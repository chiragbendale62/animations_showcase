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1C40F"/>
                </a:solidFill>
                <a:latin typeface="Arial"/>
              </a:defRPr>
            </a:pPr>
            <a:r>
              <a:t>ADVANCED FLUTTER ANIMATIONS</a:t>
            </a:r>
          </a:p>
          <a:p>
            <a:pPr algn="ctr">
              <a:spcBef>
                <a:spcPts val="1400"/>
              </a:spcBef>
              <a:defRPr sz="2200">
                <a:solidFill>
                  <a:srgbClr val="FFFFFF"/>
                </a:solidFill>
                <a:latin typeface="Arial"/>
              </a:defRPr>
            </a:pPr>
            <a:r>
              <a:t>Micro-interactions, Render Optimization, and Multithreaded Isolates</a:t>
            </a:r>
          </a:p>
          <a:p>
            <a:pPr algn="ctr">
              <a:spcBef>
                <a:spcPts val="4000"/>
              </a:spcBef>
              <a:defRPr sz="1400">
                <a:solidFill>
                  <a:srgbClr val="3498DB"/>
                </a:solidFill>
                <a:latin typeface="Arial"/>
              </a:defRPr>
            </a:pPr>
            <a:r>
              <a:t>A Complete Reference and Performance Lab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C40F"/>
                </a:solidFill>
                <a:latin typeface="Arial"/>
              </a:defRPr>
            </a:pPr>
            <a:r>
              <a:t>1. ANIMATION TAXONOMY IN FLUTTER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1C40F"/>
                </a:solidFill>
              </a:defRPr>
            </a:pPr>
            <a:r>
              <a:t>Implicit Animations</a:t>
            </a:r>
          </a:p>
          <a:p>
            <a:pPr>
              <a:spcBef>
                <a:spcPts val="1000"/>
              </a:spcBef>
              <a:defRPr sz="1500">
                <a:solidFill>
                  <a:srgbClr val="F5F6FA"/>
                </a:solidFill>
              </a:defRPr>
            </a:pPr>
            <a:r>
              <a:t>• What: Framework-managed animations using state changes.</a:t>
            </a:r>
          </a:p>
          <a:p>
            <a:pPr>
              <a:spcBef>
                <a:spcPts val="1000"/>
              </a:spcBef>
              <a:defRPr sz="1500">
                <a:solidFill>
                  <a:srgbClr val="F5F6FA"/>
                </a:solidFill>
              </a:defRPr>
            </a:pPr>
            <a:r>
              <a:t>• How: Simply set a property (e.g. width) and trigger setState().</a:t>
            </a:r>
          </a:p>
          <a:p>
            <a:pPr>
              <a:spcBef>
                <a:spcPts val="1000"/>
              </a:spcBef>
              <a:defRPr sz="1500">
                <a:solidFill>
                  <a:srgbClr val="F5F6FA"/>
                </a:solidFill>
              </a:defRPr>
            </a:pPr>
            <a:r>
              <a:t>• Common Widgets: AnimatedContainer, AnimatedOpacity, AnimatedPadding, AnimatedAlign, TweenAnimationBuilder.</a:t>
            </a:r>
          </a:p>
          <a:p>
            <a:pPr>
              <a:spcBef>
                <a:spcPts val="1000"/>
              </a:spcBef>
              <a:defRPr sz="1500">
                <a:solidFill>
                  <a:srgbClr val="F5F6FA"/>
                </a:solidFill>
              </a:defRPr>
            </a:pPr>
            <a:r>
              <a:t>• Advantages: Minimal boilerplate, automatically handles reverse/interruption.</a:t>
            </a:r>
          </a:p>
          <a:p>
            <a:pPr>
              <a:spcBef>
                <a:spcPts val="1000"/>
              </a:spcBef>
              <a:defRPr sz="1500">
                <a:solidFill>
                  <a:srgbClr val="F5F6FA"/>
                </a:solidFill>
              </a:defRPr>
            </a:pPr>
            <a:r>
              <a:t>• Best Use Case: One-off, visual decorations, and hover transitions.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3498DB"/>
                </a:solidFill>
              </a:defRPr>
            </a:pPr>
            <a:r>
              <a:t>Explicit Animations</a:t>
            </a:r>
          </a:p>
          <a:p>
            <a:pPr>
              <a:spcBef>
                <a:spcPts val="1000"/>
              </a:spcBef>
              <a:defRPr sz="1500">
                <a:solidFill>
                  <a:srgbClr val="F5F6FA"/>
                </a:solidFill>
              </a:defRPr>
            </a:pPr>
            <a:r>
              <a:t>• What: Developer-managed animations using timers and tickers.</a:t>
            </a:r>
          </a:p>
          <a:p>
            <a:pPr>
              <a:spcBef>
                <a:spcPts val="1000"/>
              </a:spcBef>
              <a:defRPr sz="1500">
                <a:solidFill>
                  <a:srgbClr val="F5F6FA"/>
                </a:solidFill>
              </a:defRPr>
            </a:pPr>
            <a:r>
              <a:t>• How: Instantiate AnimationController, Animation, and TickerProvider.</a:t>
            </a:r>
          </a:p>
          <a:p>
            <a:pPr>
              <a:spcBef>
                <a:spcPts val="1000"/>
              </a:spcBef>
              <a:defRPr sz="1500">
                <a:solidFill>
                  <a:srgbClr val="F5F6FA"/>
                </a:solidFill>
              </a:defRPr>
            </a:pPr>
            <a:r>
              <a:t>• Common Widgets: ScaleTransition, RotationTransition, PositionedTransition, AnimatedBuilder.</a:t>
            </a:r>
          </a:p>
          <a:p>
            <a:pPr>
              <a:spcBef>
                <a:spcPts val="1000"/>
              </a:spcBef>
              <a:defRPr sz="1500">
                <a:solidFill>
                  <a:srgbClr val="F5F6FA"/>
                </a:solidFill>
              </a:defRPr>
            </a:pPr>
            <a:r>
              <a:t>• Advantages: Imperative control (play, pause, reverse, loop, stagger).</a:t>
            </a:r>
          </a:p>
          <a:p>
            <a:pPr>
              <a:spcBef>
                <a:spcPts val="1000"/>
              </a:spcBef>
              <a:defRPr sz="1500">
                <a:solidFill>
                  <a:srgbClr val="F5F6FA"/>
                </a:solidFill>
              </a:defRPr>
            </a:pPr>
            <a:r>
              <a:t>• Best Use Case: Looping loading indicators, gestures, staggered entry lists, complex game scenes.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C40F"/>
                </a:solidFill>
                <a:latin typeface="Arial"/>
              </a:defRPr>
            </a:pPr>
            <a:r>
              <a:t>2. THE RENDERING &amp; ANIMATION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560320" cy="4114800"/>
          </a:xfrm>
          <a:prstGeom prst="roundRect">
            <a:avLst/>
          </a:prstGeom>
          <a:solidFill>
            <a:srgbClr val="2F3640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1C40F"/>
                </a:solidFill>
              </a:defRPr>
            </a:pPr>
            <a:r>
              <a:t>1. ANIMATE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</a:defRPr>
            </a:pPr>
            <a:r>
              <a:t>Ticker triggers every frame (~16ms for 60Hz). AnimationController recalculates normalized values (0.0 to 1.0) along selected Curves.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645920"/>
            <a:ext cx="2560320" cy="4114800"/>
          </a:xfrm>
          <a:prstGeom prst="roundRect">
            <a:avLst/>
          </a:prstGeom>
          <a:solidFill>
            <a:srgbClr val="2F3640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1C40F"/>
                </a:solidFill>
              </a:defRPr>
            </a:pPr>
            <a:r>
              <a:t>2. BUILD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</a:defRPr>
            </a:pPr>
            <a:r>
              <a:t>Flutter marks dirty elements. AnimatedBuilder rebuilds widgets with the newly interpolated values. (Optimizations here prevent redundant builds).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2560320" cy="4114800"/>
          </a:xfrm>
          <a:prstGeom prst="roundRect">
            <a:avLst/>
          </a:prstGeom>
          <a:solidFill>
            <a:srgbClr val="2F3640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1C40F"/>
                </a:solidFill>
              </a:defRPr>
            </a:pPr>
            <a:r>
              <a:t>3. LAYOUT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</a:defRPr>
            </a:pPr>
            <a:r>
              <a:t>Widget sizes and position coordinates are recalculated from top to bottom (Constraints go down, sizes go up).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645920"/>
            <a:ext cx="2560320" cy="4114800"/>
          </a:xfrm>
          <a:prstGeom prst="roundRect">
            <a:avLst/>
          </a:prstGeom>
          <a:solidFill>
            <a:srgbClr val="2F3640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1C40F"/>
                </a:solidFill>
              </a:defRPr>
            </a:pPr>
            <a:r>
              <a:t>4. PAINT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</a:defRPr>
            </a:pPr>
            <a:r>
              <a:t>Canvas records drawing commands. Using RepaintBoundaries isolates animated widgets, preventing full-screen redraw overhead.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C40F"/>
                </a:solidFill>
                <a:latin typeface="Arial"/>
              </a:defRPr>
            </a:pPr>
            <a:r>
              <a:t>3. PERFORMANCE PITFALLS &amp; CODE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1C40F"/>
                </a:solidFill>
              </a:defRPr>
            </a:pPr>
            <a:r>
              <a:t>Common Pitfalls (Why Apps Lag)</a:t>
            </a:r>
          </a:p>
          <a:p>
            <a:pPr>
              <a:spcBef>
                <a:spcPts val="1200"/>
              </a:spcBef>
              <a:defRPr sz="1400">
                <a:solidFill>
                  <a:srgbClr val="F5F6FA"/>
                </a:solidFill>
              </a:defRPr>
            </a:pPr>
            <a:r>
              <a:t>❌ Rebuilding entire subtrees when an animation ticks (e.g. recreating massive static icons/layouts in the AnimatedBuilder body).</a:t>
            </a:r>
          </a:p>
          <a:p>
            <a:pPr>
              <a:spcBef>
                <a:spcPts val="1200"/>
              </a:spcBef>
              <a:defRPr sz="1400">
                <a:solidFill>
                  <a:srgbClr val="F5F6FA"/>
                </a:solidFill>
              </a:defRPr>
            </a:pPr>
            <a:r>
              <a:t>❌ Failing to call dispose() on AnimationControllers, creating major memory leaks.</a:t>
            </a:r>
          </a:p>
          <a:p>
            <a:pPr>
              <a:spcBef>
                <a:spcPts val="1200"/>
              </a:spcBef>
              <a:defRPr sz="1400">
                <a:solidFill>
                  <a:srgbClr val="F5F6FA"/>
                </a:solidFill>
              </a:defRPr>
            </a:pPr>
            <a:r>
              <a:t>❌ Overusing heavy layout-triggering properties (like animating margin or height rather than applying ScaleTransition or Transform.translate).</a:t>
            </a:r>
          </a:p>
          <a:p>
            <a:pPr>
              <a:spcBef>
                <a:spcPts val="1200"/>
              </a:spcBef>
              <a:defRPr sz="1400">
                <a:solidFill>
                  <a:srgbClr val="F5F6FA"/>
                </a:solidFill>
              </a:defRPr>
            </a:pPr>
            <a:r>
              <a:t>❌ Executing intensive CPU operations (JSON parsing, path computations) on the Main UI Thread during active animations.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3498DB"/>
                </a:solidFill>
              </a:defRPr>
            </a:pPr>
            <a:r>
              <a:t>Pro-Optimizations</a:t>
            </a:r>
          </a:p>
          <a:p>
            <a:pPr>
              <a:spcBef>
                <a:spcPts val="1200"/>
              </a:spcBef>
              <a:defRPr sz="1400">
                <a:solidFill>
                  <a:srgbClr val="F5F6FA"/>
                </a:solidFill>
              </a:defRPr>
            </a:pPr>
            <a:r>
              <a:t>✓ AnimatedBuilder Caching: Pass the static child to AnimatedBuilder and reference it in the builder parameters to bypass rebuilding the static subtree.</a:t>
            </a:r>
          </a:p>
          <a:p>
            <a:pPr>
              <a:spcBef>
                <a:spcPts val="1200"/>
              </a:spcBef>
              <a:defRPr sz="1400">
                <a:solidFill>
                  <a:srgbClr val="F5F6FA"/>
                </a:solidFill>
              </a:defRPr>
            </a:pPr>
            <a:r>
              <a:t>✓ RepaintBoundaries: Wrap heavy custom drawings (like Canvas/CustomPainter) to paint them on a separate texture overlay, avoiding main window repaint.</a:t>
            </a:r>
          </a:p>
          <a:p>
            <a:pPr>
              <a:spcBef>
                <a:spcPts val="1200"/>
              </a:spcBef>
              <a:defRPr sz="1400">
                <a:solidFill>
                  <a:srgbClr val="F5F6FA"/>
                </a:solidFill>
              </a:defRPr>
            </a:pPr>
            <a:r>
              <a:t>✓ Use const Widgets: Always mark non-animating descendants as const to let Flutter instantly reuse build references.</a:t>
            </a:r>
          </a:p>
          <a:p>
            <a:pPr>
              <a:spcBef>
                <a:spcPts val="1200"/>
              </a:spcBef>
              <a:defRPr sz="1400">
                <a:solidFill>
                  <a:srgbClr val="F5F6FA"/>
                </a:solidFill>
              </a:defRPr>
            </a:pPr>
            <a:r>
              <a:t>✓ Use transform and opacity widgets wisely: Prefer Opacity widgets over custom paint alphas where Flutter can optimize engine layers.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C40F"/>
                </a:solidFill>
                <a:latin typeface="Arial"/>
              </a:defRPr>
            </a:pPr>
            <a:r>
              <a:t>4. THE THREADING FRONTIER: DART ISOLATES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1C40F"/>
                </a:solidFill>
              </a:defRPr>
            </a:pPr>
            <a:r>
              <a:t>The Single-Threaded Barrier</a:t>
            </a:r>
          </a:p>
          <a:p>
            <a:pPr>
              <a:spcBef>
                <a:spcPts val="1000"/>
              </a:spcBef>
              <a:defRPr sz="1500">
                <a:solidFill>
                  <a:srgbClr val="F5F6FA"/>
                </a:solidFill>
              </a:defRPr>
            </a:pPr>
            <a:r>
              <a:t>• Dart executes code in a single 'Isolate' with a single-threaded Event Loop.</a:t>
            </a:r>
          </a:p>
          <a:p>
            <a:pPr>
              <a:spcBef>
                <a:spcPts val="1000"/>
              </a:spcBef>
              <a:defRPr sz="1500">
                <a:solidFill>
                  <a:srgbClr val="F5F6FA"/>
                </a:solidFill>
              </a:defRPr>
            </a:pPr>
            <a:r>
              <a:t>• The Main Isolate manages: UI gestures, animations, rendering, garbage collection, and microtasks.</a:t>
            </a:r>
          </a:p>
          <a:p>
            <a:pPr>
              <a:spcBef>
                <a:spcPts val="1000"/>
              </a:spcBef>
              <a:defRPr sz="1500">
                <a:solidFill>
                  <a:srgbClr val="F5F6FA"/>
                </a:solidFill>
              </a:defRPr>
            </a:pPr>
            <a:r>
              <a:t>• If a computational load (e.g. spring-mass calculations, physics engine coordinate generator, large JSON data manipulation) takes &gt;16ms, the Main event loop freezes.</a:t>
            </a:r>
          </a:p>
          <a:p>
            <a:pPr>
              <a:spcBef>
                <a:spcPts val="1000"/>
              </a:spcBef>
              <a:defRPr sz="1500">
                <a:solidFill>
                  <a:srgbClr val="F5F6FA"/>
                </a:solidFill>
              </a:defRPr>
            </a:pPr>
            <a:r>
              <a:t>• Result: Dropped frames, laggy screen updates, animation freeze (UI jank).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3498DB"/>
                </a:solidFill>
              </a:defRPr>
            </a:pPr>
            <a:r>
              <a:t>Offloading with Background Isolates</a:t>
            </a:r>
          </a:p>
          <a:p>
            <a:pPr>
              <a:spcBef>
                <a:spcPts val="1000"/>
              </a:spcBef>
              <a:defRPr sz="1500">
                <a:solidFill>
                  <a:srgbClr val="F5F6FA"/>
                </a:solidFill>
              </a:defRPr>
            </a:pPr>
            <a:r>
              <a:t>• Isolates do not share memory: They are completely isolated, run concurrently, and communicate ONLY by sending messages through ReceivePort and SendPort.</a:t>
            </a:r>
          </a:p>
          <a:p>
            <a:pPr>
              <a:spcBef>
                <a:spcPts val="1000"/>
              </a:spcBef>
              <a:defRPr sz="1500">
                <a:solidFill>
                  <a:srgbClr val="F5F6FA"/>
                </a:solidFill>
              </a:defRPr>
            </a:pPr>
            <a:r>
              <a:t>• Flutter's compute(): Instantly spawns a background worker isolate, runs a static function, returns the value, and kills the worker. Best for quick jobs.</a:t>
            </a:r>
          </a:p>
          <a:p>
            <a:pPr>
              <a:spcBef>
                <a:spcPts val="1000"/>
              </a:spcBef>
              <a:defRPr sz="1500">
                <a:solidFill>
                  <a:srgbClr val="F5F6FA"/>
                </a:solidFill>
              </a:defRPr>
            </a:pPr>
            <a:r>
              <a:t>• Isolate.spawn(): Creates a persistent background thread. Perfect for high-intensity loop calculations (e.g., coordinates updates for an ongoing particle swarm simulation).</a:t>
            </a:r>
          </a:p>
          <a:p>
            <a:pPr>
              <a:spcBef>
                <a:spcPts val="1000"/>
              </a:spcBef>
              <a:defRPr sz="1500">
                <a:solidFill>
                  <a:srgbClr val="F5F6FA"/>
                </a:solidFill>
              </a:defRPr>
            </a:pPr>
            <a:r>
              <a:t>• Keeping UI responsive: Main Isolate remains free solely for drawing and animations, ensuring buttery 60/120 FPS.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C40F"/>
                </a:solidFill>
                <a:latin typeface="Arial"/>
              </a:defRPr>
            </a:pPr>
            <a:r>
              <a:t>5. ADVANCED ANIMATION CHEATSHEET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F1C40F"/>
                </a:solidFill>
              </a:defRPr>
            </a:pPr>
            <a:r>
              <a:t>1. Implicit Widgets First: </a:t>
            </a:r>
            <a:r>
              <a:rPr b="0" sz="1500">
                <a:solidFill>
                  <a:srgbClr val="F5F6FA"/>
                </a:solidFill>
              </a:rPr>
              <a:t>Always default to implicit widgets (AnimatedContainer, etc.) for straightforward UI styling changes. They are fast, clean, and bug-free.</a:t>
            </a:r>
          </a:p>
          <a:p>
            <a:pPr>
              <a:spcBef>
                <a:spcPts val="1200"/>
              </a:spcBef>
              <a:defRPr b="1" sz="1600">
                <a:solidFill>
                  <a:srgbClr val="F1C40F"/>
                </a:solidFill>
              </a:defRPr>
            </a:pPr>
            <a:r>
              <a:t>2. Explicit for State-Controlled loops: </a:t>
            </a:r>
            <a:r>
              <a:rPr b="0" sz="1500">
                <a:solidFill>
                  <a:srgbClr val="F5F6FA"/>
                </a:solidFill>
              </a:rPr>
              <a:t>Use explicit controllers when you need to rewind, repeat, pause, or synchronize multiple animations. Be sure to clean up resources in dispose().</a:t>
            </a:r>
          </a:p>
          <a:p>
            <a:pPr>
              <a:spcBef>
                <a:spcPts val="1200"/>
              </a:spcBef>
              <a:defRPr b="1" sz="1600">
                <a:solidFill>
                  <a:srgbClr val="F1C40F"/>
                </a:solidFill>
              </a:defRPr>
            </a:pPr>
            <a:r>
              <a:t>3. AnimatedBuilder optimization: </a:t>
            </a:r>
            <a:r>
              <a:rPr b="0" sz="1500">
                <a:solidFill>
                  <a:srgbClr val="F5F6FA"/>
                </a:solidFill>
              </a:rPr>
              <a:t>Always leverage the static 'child' parameter in AnimatedBuilder. Rebuilding large static widgets 60 times a second is the #1 source of mobile animation lag.</a:t>
            </a:r>
          </a:p>
          <a:p>
            <a:pPr>
              <a:spcBef>
                <a:spcPts val="1200"/>
              </a:spcBef>
              <a:defRPr b="1" sz="1600">
                <a:solidFill>
                  <a:srgbClr val="F1C40F"/>
                </a:solidFill>
              </a:defRPr>
            </a:pPr>
            <a:r>
              <a:t>4. Isolates for dynamic calculations: </a:t>
            </a:r>
            <a:r>
              <a:rPr b="0" sz="1500">
                <a:solidFill>
                  <a:srgbClr val="F5F6FA"/>
                </a:solidFill>
              </a:rPr>
              <a:t>If generating physics points, path nodes, or parsing database rows to animate later, execute it inside an Isolate. Main-thread execution destroys rendering rates.</a:t>
            </a:r>
          </a:p>
          <a:p>
            <a:pPr>
              <a:spcBef>
                <a:spcPts val="1200"/>
              </a:spcBef>
              <a:defRPr b="1" sz="1600">
                <a:solidFill>
                  <a:srgbClr val="F1C40F"/>
                </a:solidFill>
              </a:defRPr>
            </a:pPr>
            <a:r>
              <a:t>5. Repaint boundaries isolate noise: </a:t>
            </a:r>
            <a:r>
              <a:rPr b="0" sz="1500">
                <a:solidFill>
                  <a:srgbClr val="F5F6FA"/>
                </a:solidFill>
              </a:rPr>
              <a:t>Use RepaintBoundary around intense animating canvas layouts to tell the Skia/Impeller renderer that this zone changes independently.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